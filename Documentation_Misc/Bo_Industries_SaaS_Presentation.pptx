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2-1.jpg" ContentType="image/jpg"/>
  <Override PartName="/ppt/media/image-2-2.jpg" ContentType="image/jpg"/>
  <Override PartName="/ppt/media/image-3-1.jpg" ContentType="image/jpg"/>
  <Override PartName="/ppt/media/image-4-1.jpg" ContentType="image/jpg"/>
  <Override PartName="/ppt/media/image-5-1.jpg" ContentType="image/jpg"/>
  <Override PartName="/ppt/media/image-6-1.jpg" ContentType="image/jpg"/>
  <Override PartName="/ppt/media/image-7-1.jpg" ContentType="image/jpg"/>
  <Override PartName="/ppt/media/image-8-1.jpg" ContentType="image/jpg"/>
  <Override PartName="/ppt/media/image-9-1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2-1.jpg"/><Relationship Id="rId3" Type="http://schemas.openxmlformats.org/officeDocument/2006/relationships/image" Target="../media/image-2-2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3-1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4-1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5-1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6-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7-1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8-1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9-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69680" y="0"/>
            <a:ext cx="27432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572000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6537960" cy="47548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0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Provided by:  Terian Services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0" y="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March 2026</a:t>
            </a:r>
            <a:endParaRPr lang="en-US" sz="9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777240"/>
            <a:ext cx="1645920" cy="1645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100584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Award Nomination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457200" y="169164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Platform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457200" y="23774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SaaS Solution for Employee Recognition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57200" y="2834640"/>
            <a:ext cx="27432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29718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to: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32461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 Industries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terian-services.com  |  david.terian@gmail.com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Provided by:  Terian Services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0" y="0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Discussion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2286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325880"/>
            <a:ext cx="42062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325880"/>
            <a:ext cx="54864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39903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60120" y="1417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Platform Capabilities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178308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nomination workflow, fraud detection, AI analytics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2468880"/>
            <a:ext cx="42062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11480" y="2468880"/>
            <a:ext cx="54864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54203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2560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&amp; Security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292608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SaaS, private networking, high availability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" y="3611880"/>
            <a:ext cx="42062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11480" y="3611880"/>
            <a:ext cx="54864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68503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3703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Onboarding Roadmap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406908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Four-phase onboarding from kick-off to go-live (4–6 weeks)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46320" y="1325880"/>
            <a:ext cx="42062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46320" y="1325880"/>
            <a:ext cx="54864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83480" y="139903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394960" y="1417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 SLA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983480" y="178308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times, escalation paths, and maintenance windows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46320" y="2468880"/>
            <a:ext cx="42062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46320" y="2468880"/>
            <a:ext cx="54864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83480" y="254203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5394960" y="2560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983480" y="292608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agreement, timeline, and sign-off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Provided by:  Terian Services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0" y="0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Overview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Award Nomination Platform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cloud-native, multi-tenant SaaS solution for employee recognition — built on Microsoft Azure.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645920"/>
            <a:ext cx="1920240" cy="1097280"/>
          </a:xfrm>
          <a:prstGeom prst="rect">
            <a:avLst/>
          </a:prstGeom>
          <a:solidFill>
            <a:srgbClr val="0F2744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645920"/>
            <a:ext cx="192024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75564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99.99%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502920" y="226771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Uptime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(Azure Front Door)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23160" y="1645920"/>
            <a:ext cx="1920240" cy="1097280"/>
          </a:xfrm>
          <a:prstGeom prst="rect">
            <a:avLst/>
          </a:prstGeom>
          <a:solidFill>
            <a:srgbClr val="0F2744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23160" y="1645920"/>
            <a:ext cx="192024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23160" y="175564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2514600" y="226771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Regions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(East + West US)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434840" y="1645920"/>
            <a:ext cx="1920240" cy="1097280"/>
          </a:xfrm>
          <a:prstGeom prst="rect">
            <a:avLst/>
          </a:prstGeom>
          <a:solidFill>
            <a:srgbClr val="0F2744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434840" y="1645920"/>
            <a:ext cx="192024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34840" y="175564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 60s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4526280" y="226771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Failover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RTO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46520" y="1645920"/>
            <a:ext cx="2286000" cy="1097280"/>
          </a:xfrm>
          <a:prstGeom prst="rect">
            <a:avLst/>
          </a:prstGeom>
          <a:solidFill>
            <a:srgbClr val="0F2744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46520" y="1645920"/>
            <a:ext cx="2286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175564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GPT-4o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6537960" y="226771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Analytics Engine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(Azure OpenAI)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" y="2907792"/>
            <a:ext cx="2011680" cy="1920240"/>
          </a:xfrm>
          <a:prstGeom prst="rect">
            <a:avLst/>
          </a:prstGeom>
          <a:solidFill>
            <a:srgbClr val="F0F6FC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11480" y="2907792"/>
            <a:ext cx="64008" cy="19202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" y="2962656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Employee Nominations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0352" y="3255264"/>
            <a:ext cx="1847088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Intuitive React SPA — employees nominate colleagues with amount, reason, and supporting evidence.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560320" y="2907792"/>
            <a:ext cx="2011680" cy="1920240"/>
          </a:xfrm>
          <a:prstGeom prst="rect">
            <a:avLst/>
          </a:prstGeom>
          <a:solidFill>
            <a:srgbClr val="F0F6FC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560320" y="2907792"/>
            <a:ext cx="64008" cy="19202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679192" y="2962656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Manager Approval Flow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679192" y="3255264"/>
            <a:ext cx="1847088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Email-based approval with cryptographic single-use tokens. No portal login required for managers.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09160" y="2907792"/>
            <a:ext cx="2011680" cy="1920240"/>
          </a:xfrm>
          <a:prstGeom prst="rect">
            <a:avLst/>
          </a:prstGeom>
          <a:solidFill>
            <a:srgbClr val="F0F6FC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09160" y="2907792"/>
            <a:ext cx="64008" cy="19202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28032" y="2962656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 Fraud Detection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28032" y="3255264"/>
            <a:ext cx="1847088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feature Random Forest classifier plus SQL rule-based checks automatically block high-risk nominations.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858000" y="2907792"/>
            <a:ext cx="2011680" cy="1920240"/>
          </a:xfrm>
          <a:prstGeom prst="rect">
            <a:avLst/>
          </a:prstGeom>
          <a:solidFill>
            <a:srgbClr val="F0F6FC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858000" y="2907792"/>
            <a:ext cx="64008" cy="19202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76872" y="2962656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Analytics Agent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976872" y="3255264"/>
            <a:ext cx="1847088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natural language questions about nomination data. Powered by GPT-4o with direct SQL tool access.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Provided by:  Terian Services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0" y="0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Capabilities — Nomination Workflow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Nomination Workflow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325880"/>
            <a:ext cx="4206240" cy="1508760"/>
          </a:xfrm>
          <a:prstGeom prst="rect">
            <a:avLst/>
          </a:prstGeom>
          <a:solidFill>
            <a:srgbClr val="F0F6FC"/>
          </a:solidFill>
          <a:ln/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21208" y="1435608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1435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32688" y="1435608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Submit Nomination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32688" y="1691640"/>
            <a:ext cx="361188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logs in via their company portal (custom subdomain). Selects a colleague, enters award amount, and describes the achievement.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81728" y="2039112"/>
            <a:ext cx="2286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0" y="1325880"/>
            <a:ext cx="4206240" cy="1508760"/>
          </a:xfrm>
          <a:prstGeom prst="rect">
            <a:avLst/>
          </a:prstGeom>
          <a:solidFill>
            <a:srgbClr val="F0F6FC"/>
          </a:solidFill>
          <a:ln/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956048" y="1435608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56048" y="1435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67528" y="1435608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Fraud Screening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367528" y="1691640"/>
            <a:ext cx="361188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instantly scores the nomination using ML + SQL rules. CRITICAL risk (score 70–100) is blocked automatically. Others proceed.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" y="3017520"/>
            <a:ext cx="4206240" cy="1508760"/>
          </a:xfrm>
          <a:prstGeom prst="rect">
            <a:avLst/>
          </a:prstGeom>
          <a:solidFill>
            <a:srgbClr val="F0F6FC"/>
          </a:solidFill>
          <a:ln/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21208" y="3127248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1208" y="31272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32688" y="3127248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Manager Notification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32688" y="3383280"/>
            <a:ext cx="361188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receives an email with full nomination details, plus one-click Approve / Reject buttons using secure, single-use tokens.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81728" y="3730752"/>
            <a:ext cx="2286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46320" y="3017520"/>
            <a:ext cx="4206240" cy="1508760"/>
          </a:xfrm>
          <a:prstGeom prst="rect">
            <a:avLst/>
          </a:prstGeom>
          <a:solidFill>
            <a:srgbClr val="F0F6FC"/>
          </a:solidFill>
          <a:ln/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956048" y="3127248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56048" y="31272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367528" y="3127248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Approval &amp; Audit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67528" y="3383280"/>
            <a:ext cx="361188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nominations are logged with timestamp, approver, and full history. Admins can view all activity via the audit dashboard.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377440" y="2898648"/>
            <a:ext cx="45720" cy="201168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12280" y="2898648"/>
            <a:ext cx="45720" cy="201168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470916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automated flow — from submission to approval record, with no manual system intervention required.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Provided by:  Terian Services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0" y="0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Capabilities — Fraud Detection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Built-In Fraud Detection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nomination is automatically screened before it reaches a manager — protecting Bo Industries from misuse.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572768"/>
            <a:ext cx="4160520" cy="3246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572768"/>
            <a:ext cx="4160520" cy="347472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57276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Layer 1 — Rule-Based SQL Checks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1993392"/>
            <a:ext cx="39319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nomination frequency  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beneficiary patterns  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/ reciprocal schemes  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Unusually high amounts (&gt; 2σ from baseline)  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approvals (&lt; 1 hour)  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Self-dealing network detection  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572768"/>
            <a:ext cx="4069080" cy="3246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572768"/>
            <a:ext cx="4069080" cy="347472"/>
          </a:xfrm>
          <a:prstGeom prst="rect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572768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Layer 2 — ML Classifier (Random Forest)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196596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engineered features · Temporal + behavioural signals · Peer-group amount anomalies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54880" y="2359152"/>
            <a:ext cx="3886200" cy="47548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6" name="Text 14"/>
          <p:cNvSpPr/>
          <p:nvPr/>
        </p:nvSpPr>
        <p:spPr>
          <a:xfrm>
            <a:off x="4800600" y="2359152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035040" y="235915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70–100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132320" y="2359152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Auto-blocked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2926080"/>
            <a:ext cx="3886200" cy="47548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0" name="Text 18"/>
          <p:cNvSpPr/>
          <p:nvPr/>
        </p:nvSpPr>
        <p:spPr>
          <a:xfrm>
            <a:off x="4800600" y="2926080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035040" y="2926080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50–69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132320" y="292608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review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3493008"/>
            <a:ext cx="3886200" cy="475488"/>
          </a:xfrm>
          <a:prstGeom prst="rect">
            <a:avLst/>
          </a:prstGeom>
          <a:solidFill>
            <a:srgbClr val="F1C40F"/>
          </a:solidFill>
          <a:ln/>
        </p:spPr>
      </p:sp>
      <p:sp>
        <p:nvSpPr>
          <p:cNvPr id="24" name="Text 22"/>
          <p:cNvSpPr/>
          <p:nvPr/>
        </p:nvSpPr>
        <p:spPr>
          <a:xfrm>
            <a:off x="4800600" y="3493008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035040" y="3493008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30–49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132320" y="3493008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54880" y="4059936"/>
            <a:ext cx="3886200" cy="475488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8" name="Text 26"/>
          <p:cNvSpPr/>
          <p:nvPr/>
        </p:nvSpPr>
        <p:spPr>
          <a:xfrm>
            <a:off x="4800600" y="4059936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035040" y="4059936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1–29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132320" y="4059936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 &amp; passed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Provided by:  Terian Services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0" y="0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Capabilities — AI Analytics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Analytics Agent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plain-English questions about your nomination data. Powered by Azure OpenAI GPT-4o — admin access only.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600200"/>
            <a:ext cx="8321040" cy="82296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8" name="Shape 6"/>
          <p:cNvSpPr/>
          <p:nvPr/>
        </p:nvSpPr>
        <p:spPr>
          <a:xfrm>
            <a:off x="411480" y="1600200"/>
            <a:ext cx="54864" cy="822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6459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query: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18745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"Which department had the highest fraud score last month, and who were the top nominees?"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1480" y="2578608"/>
            <a:ext cx="2011680" cy="2286000"/>
          </a:xfrm>
          <a:prstGeom prst="rect">
            <a:avLst/>
          </a:prstGeom>
          <a:solidFill>
            <a:srgbClr val="F0F6FC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1480" y="2578608"/>
            <a:ext cx="64008" cy="2286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2633472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Text-to-SQL Queries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0352" y="2926080"/>
            <a:ext cx="1847088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converts plain-English questions into SQL queries against the live nomination database.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560320" y="2578608"/>
            <a:ext cx="2011680" cy="2286000"/>
          </a:xfrm>
          <a:prstGeom prst="rect">
            <a:avLst/>
          </a:prstGeom>
          <a:solidFill>
            <a:srgbClr val="F0F6FC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560320" y="2578608"/>
            <a:ext cx="64008" cy="2286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79192" y="2633472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Spending Analysis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679192" y="2926080"/>
            <a:ext cx="1847088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award distribution by department, manager, or time period — identify trends and outliers.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2578608"/>
            <a:ext cx="2011680" cy="2286000"/>
          </a:xfrm>
          <a:prstGeom prst="rect">
            <a:avLst/>
          </a:prstGeom>
          <a:solidFill>
            <a:srgbClr val="F0F6FC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2578608"/>
            <a:ext cx="64008" cy="2286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28032" y="2633472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Fraud Insights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28032" y="2926080"/>
            <a:ext cx="1847088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ML model decisions, review high-risk nominations, and track fraud pattern evolution.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858000" y="2578608"/>
            <a:ext cx="2011680" cy="2286000"/>
          </a:xfrm>
          <a:prstGeom prst="rect">
            <a:avLst/>
          </a:prstGeom>
          <a:solidFill>
            <a:srgbClr val="F0F6FC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858000" y="2578608"/>
            <a:ext cx="64008" cy="2286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76872" y="2633472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Multi-Format Export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976872" y="2926080"/>
            <a:ext cx="1847088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answers and supporting data as CSV, Excel, PDF, or directly to Azure Blob Storage.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11480" y="4828032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AI agent actions are scoped to the authenticated admin's identity — context-aware, secure, and audit-logged.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Provided by:  Terian Services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0" y="0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Security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Layered Security Architecture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backend services are private — Azure Front Door is the sole public entry point. Zero Trust by design.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572768"/>
            <a:ext cx="8321040" cy="56692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57276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Layer 0  —  DNS / Edge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0" y="1572768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DNS → Azure Front Door (HTTPS only, HSTS enforced)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66928" y="2212848"/>
            <a:ext cx="7918704" cy="566928"/>
          </a:xfrm>
          <a:prstGeom prst="rect">
            <a:avLst/>
          </a:prstGeom>
          <a:solidFill>
            <a:srgbClr val="2196D4"/>
          </a:solidFill>
          <a:ln/>
        </p:spPr>
      </p:sp>
      <p:sp>
        <p:nvSpPr>
          <p:cNvPr id="11" name="Text 9"/>
          <p:cNvSpPr/>
          <p:nvPr/>
        </p:nvSpPr>
        <p:spPr>
          <a:xfrm>
            <a:off x="704088" y="221284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Layer 1  —  Public Perimeter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01568" y="2212848"/>
            <a:ext cx="4992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Front Door · WAF (OWASP rules) · DDoS protection · TLS 1.2+ termination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68096" y="2852928"/>
            <a:ext cx="7516368" cy="566928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14" name="Text 12"/>
          <p:cNvSpPr/>
          <p:nvPr/>
        </p:nvSpPr>
        <p:spPr>
          <a:xfrm>
            <a:off x="905256" y="285292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Layer 2  —  Application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02736" y="2852928"/>
            <a:ext cx="4590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Apps (VNet-injected) · JWT validation on every request · RBAC app roles · TenantId isolation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69264" y="3493008"/>
            <a:ext cx="7114032" cy="56692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7" name="Text 15"/>
          <p:cNvSpPr/>
          <p:nvPr/>
        </p:nvSpPr>
        <p:spPr>
          <a:xfrm>
            <a:off x="1106424" y="349300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Layer 3  —  Data Plane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803904" y="3493008"/>
            <a:ext cx="4187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· Key Vault · Blob · ACR · OpenAI — private endpoints only, traffic stays on Azure backbone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170432" y="4133088"/>
            <a:ext cx="6711696" cy="566928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20" name="Text 18"/>
          <p:cNvSpPr/>
          <p:nvPr/>
        </p:nvSpPr>
        <p:spPr>
          <a:xfrm>
            <a:off x="1307592" y="413308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Layer 4  —  Secrets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005072" y="4133088"/>
            <a:ext cx="3785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Key Vault · RBAC-only access · Soft-delete 90 days · Managed Identity injection at runtime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5760" y="4828032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Entra ID (Azure AD) · OAuth2 / OIDC · JWT validation · Managed Identities · TLS 1.2+ everywhere · SQL TDE + Blob encryption at rest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Provided by:  Terian Services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0" y="0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Security — Multi-Tenant SaaS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Multi-Tenant SaaS — Bo Industries Configuration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client organisation receives a fully isolated, branded environment — no data is shared between tenants.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572768"/>
            <a:ext cx="484632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572768"/>
            <a:ext cx="4846320" cy="384048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57276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 Industries Tenant Configuration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011680"/>
            <a:ext cx="4754880" cy="438912"/>
          </a:xfrm>
          <a:prstGeom prst="rect">
            <a:avLst/>
          </a:prstGeom>
          <a:solidFill>
            <a:srgbClr val="F0F6FC"/>
          </a:solidFill>
          <a:ln w="12700">
            <a:solidFill>
              <a:srgbClr val="F0F6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06654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URL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377440" y="206654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bo-industries.terian-services.com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94360" y="252374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AD Tenant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377440" y="252374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bo-industries.onmicrosoft.com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4754880" cy="438912"/>
          </a:xfrm>
          <a:prstGeom prst="rect">
            <a:avLst/>
          </a:prstGeom>
          <a:solidFill>
            <a:srgbClr val="F0F6FC"/>
          </a:solidFill>
          <a:ln w="12700">
            <a:solidFill>
              <a:srgbClr val="F0F6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98094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Colour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377440" y="298094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Configured to Bo Industries brand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94360" y="343814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Locale / Currency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377440" y="343814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en-US / USD (configurable)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840480"/>
            <a:ext cx="4754880" cy="438912"/>
          </a:xfrm>
          <a:prstGeom prst="rect">
            <a:avLst/>
          </a:prstGeom>
          <a:solidFill>
            <a:srgbClr val="F0F6FC"/>
          </a:solidFill>
          <a:ln w="12700">
            <a:solidFill>
              <a:srgbClr val="F0F6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89534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Isolation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377440" y="389534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TenantId filter on every DB query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94360" y="435254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Roles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377440" y="435254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AWard_Nomination_Admin + Employee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394960" y="1572768"/>
            <a:ext cx="3337560" cy="713232"/>
          </a:xfrm>
          <a:prstGeom prst="rect">
            <a:avLst/>
          </a:prstGeom>
          <a:solidFill>
            <a:srgbClr val="F0F6FC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394960" y="1572768"/>
            <a:ext cx="64008" cy="7132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13832" y="1627632"/>
            <a:ext cx="3172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 Domain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513832" y="1920240"/>
            <a:ext cx="3172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subdomain under terian-services.com from day one.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394960" y="2377440"/>
            <a:ext cx="3337560" cy="713232"/>
          </a:xfrm>
          <a:prstGeom prst="rect">
            <a:avLst/>
          </a:prstGeom>
          <a:solidFill>
            <a:srgbClr val="F0F6FC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394960" y="2377440"/>
            <a:ext cx="64008" cy="7132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2432304"/>
            <a:ext cx="3172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Brand Theming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513832" y="2724912"/>
            <a:ext cx="3172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colour, logo, and locale applied across the entire portal.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394960" y="3182112"/>
            <a:ext cx="3337560" cy="713232"/>
          </a:xfrm>
          <a:prstGeom prst="rect">
            <a:avLst/>
          </a:prstGeom>
          <a:solidFill>
            <a:srgbClr val="F0F6FC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394960" y="3182112"/>
            <a:ext cx="64008" cy="7132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3236976"/>
            <a:ext cx="3172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Private Data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513832" y="3529584"/>
            <a:ext cx="3172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nominations, users, and analytics are TenantId-scoped — invisible to other tenants.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394960" y="3986784"/>
            <a:ext cx="3337560" cy="713232"/>
          </a:xfrm>
          <a:prstGeom prst="rect">
            <a:avLst/>
          </a:prstGeom>
          <a:solidFill>
            <a:srgbClr val="F0F6FC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394960" y="3986784"/>
            <a:ext cx="64008" cy="7132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4041648"/>
            <a:ext cx="3172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 Portal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513832" y="4334256"/>
            <a:ext cx="3172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log, fraud dashboard, AI agent, and ML model controls.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Provided by:  Terian Services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0" y="0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Security — High Availability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 Availability &amp; Reliability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188720"/>
            <a:ext cx="8321040" cy="384048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8872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Component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892040" y="118872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720840" y="118872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Mechanism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1600200"/>
            <a:ext cx="832104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67335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(Azure Static Web Apps)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892040" y="167335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99.95%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63640" y="167335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CDN edge, globally distributed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2148840"/>
            <a:ext cx="8321040" cy="530352"/>
          </a:xfrm>
          <a:prstGeom prst="rect">
            <a:avLst/>
          </a:prstGeom>
          <a:solidFill>
            <a:srgbClr val="F0F6FC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22199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(Azure Front Door)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92040" y="222199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99.99%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63640" y="222199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global edge network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2697480"/>
            <a:ext cx="832104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277063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 (Container Apps — 2 regions)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92040" y="2770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99.95%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63640" y="277063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US + West US, auto-failover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11480" y="3246120"/>
            <a:ext cx="8321040" cy="530352"/>
          </a:xfrm>
          <a:prstGeom prst="rect">
            <a:avLst/>
          </a:prstGeom>
          <a:solidFill>
            <a:srgbClr val="F0F6FC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331927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(Azure SQL)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92040" y="331927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99.99%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63640" y="331927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SQL HA with auto-failover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11480" y="3822192"/>
            <a:ext cx="832104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3886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Disaster Recovery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11480" y="4224528"/>
            <a:ext cx="1920240" cy="82296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9" name="Text 27"/>
          <p:cNvSpPr/>
          <p:nvPr/>
        </p:nvSpPr>
        <p:spPr>
          <a:xfrm>
            <a:off x="411480" y="426110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 5 min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457200" y="46451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RTO — Automatic AFD failover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514600" y="4224528"/>
            <a:ext cx="1920240" cy="82296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2" name="Text 30"/>
          <p:cNvSpPr/>
          <p:nvPr/>
        </p:nvSpPr>
        <p:spPr>
          <a:xfrm>
            <a:off x="2514600" y="426110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≈ 0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2560320" y="46451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RPO — Active-active dual-region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617720" y="4224528"/>
            <a:ext cx="1920240" cy="82296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5" name="Text 33"/>
          <p:cNvSpPr/>
          <p:nvPr/>
        </p:nvSpPr>
        <p:spPr>
          <a:xfrm>
            <a:off x="4617720" y="426110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 probes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4663440" y="46451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Failover Trigger — HEAD / every 100 seconds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720840" y="4224528"/>
            <a:ext cx="1920240" cy="82296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8" name="Text 36"/>
          <p:cNvSpPr/>
          <p:nvPr/>
        </p:nvSpPr>
        <p:spPr>
          <a:xfrm>
            <a:off x="6720840" y="426110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35 days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6766560" y="46451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Backup — Point-in-time restore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Provided by:  Terian Services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0" y="0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Roadmap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Client Onboarding Roadmap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signed agreement to full go-live in 4–6 weeks, across four structured phases.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2331720"/>
            <a:ext cx="7589520" cy="54864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41832" y="2176272"/>
            <a:ext cx="402336" cy="40233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1832" y="21762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0040" y="2670048"/>
            <a:ext cx="173736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670048"/>
            <a:ext cx="173736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788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5760" y="30632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Kick-Off &amp;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Discovery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862072" y="2176272"/>
            <a:ext cx="402336" cy="402336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62072" y="21762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240280" y="2670048"/>
            <a:ext cx="173736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40280" y="2670048"/>
            <a:ext cx="1737360" cy="7315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0" y="2788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2–3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286000" y="30632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Tenant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Provisioning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82312" y="2176272"/>
            <a:ext cx="402336" cy="40233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82312" y="21762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160520" y="2670048"/>
            <a:ext cx="173736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160520" y="2670048"/>
            <a:ext cx="1737360" cy="7315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06240" y="2788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3–4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206240" y="30632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UAT &amp;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Training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702552" y="2176272"/>
            <a:ext cx="402336" cy="402336"/>
          </a:xfrm>
          <a:prstGeom prst="ellipse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02552" y="21762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080760" y="2670048"/>
            <a:ext cx="173736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080760" y="2670048"/>
            <a:ext cx="1737360" cy="73152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26480" y="2788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5–6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126480" y="30632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Go-Live &amp;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Handover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93192" y="3602736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gathering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AD tenant details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/ locale config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import format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2313432" y="3602736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DB record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subdomain DNS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AD app reg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provisioning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233672" y="3602736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environment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&amp; user training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testing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&amp; fixes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153912" y="3602736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cutover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data migration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Hypercare support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handover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Provided by:  Terian Services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0" y="0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Roadmap — Phases 1 &amp;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Onboarding: Phases 1 &amp; 2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234440"/>
            <a:ext cx="4206240" cy="640080"/>
          </a:xfrm>
          <a:prstGeom prst="rect">
            <a:avLst/>
          </a:prstGeom>
          <a:solidFill>
            <a:srgbClr val="F0F6FC"/>
          </a:solidFill>
          <a:ln/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21208" y="1344168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13441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32688" y="1344168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Kick-Off &amp; Discovery (Week 1)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32688" y="1600200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call to confirm requirements, collect Azure AD tenant details, brand assets, and user import CSV.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1938528"/>
            <a:ext cx="4206240" cy="640080"/>
          </a:xfrm>
          <a:prstGeom prst="rect">
            <a:avLst/>
          </a:prstGeom>
          <a:solidFill>
            <a:srgbClr val="F0F6FC"/>
          </a:solidFill>
          <a:ln/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21208" y="2048256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" y="20482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32688" y="2048256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Tenant Record &amp; DNS (Week 2)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32688" y="2304288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Terian Services creates the tenant DB record, provisions the custom subdomain (bo-industries.terian-services.com), and configures DNS.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2642616"/>
            <a:ext cx="4206240" cy="640080"/>
          </a:xfrm>
          <a:prstGeom prst="rect">
            <a:avLst/>
          </a:prstGeom>
          <a:solidFill>
            <a:srgbClr val="F0F6FC"/>
          </a:solidFill>
          <a:ln/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21208" y="2752344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" y="27523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32688" y="2752344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Azure AD App Registration (Week 2)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32688" y="3008376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OAuth2 app registration configured for Bo Industries' Azure AD tenant. Redirect URIs and app roles assigned.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11480" y="3346704"/>
            <a:ext cx="4206240" cy="640080"/>
          </a:xfrm>
          <a:prstGeom prst="rect">
            <a:avLst/>
          </a:prstGeom>
          <a:solidFill>
            <a:srgbClr val="F0F6FC"/>
          </a:solidFill>
          <a:ln/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21208" y="34564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1208" y="34564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32688" y="3456432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Provisioning (Week 2–3)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32688" y="3712464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directory imported from CSV or Azure AD sync. Manager hierarchy configured for approval routing.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1234440"/>
            <a:ext cx="4069080" cy="275234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1234440"/>
            <a:ext cx="4069080" cy="365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123444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1–2 Deliverables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00600" y="16642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Requirements sign-off document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800600" y="208483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bo-industries.terian-services.com live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00600" y="250545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Azure AD app registration complete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800600" y="29260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Employee directory imported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800600" y="334670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Sandbox environment accessible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800600" y="376732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Admin credentials issued to 2 key contacts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11480" y="4114800"/>
            <a:ext cx="8321040" cy="6858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6" name="Text 34"/>
          <p:cNvSpPr/>
          <p:nvPr/>
        </p:nvSpPr>
        <p:spPr>
          <a:xfrm>
            <a:off x="548640" y="413308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Terian Services manages all provisioning tasks. Bo Industries provides: Azure AD tenant ID, brand assets (logo, hex colour), and employee CSV. No infrastructure setup required on your side.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Provided by:  Terian Services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0" y="0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Roadmap — Phases 3 &amp;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Onboarding: Phases 3 &amp; 4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234440"/>
            <a:ext cx="4206240" cy="25786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234440"/>
            <a:ext cx="4206240" cy="36576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2344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3 — UAT &amp; Training (Week 3–4)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69164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Sandbox Access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18928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 Industries team gets sandbox credentials. Full nomination workflow available for testing.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48640" y="222199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 Training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24231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45-min walkthrough: fraud dashboard, AI agent, user management, audit log.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48640" y="275234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Training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48640" y="29535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Short-form guide + video for employees and managers (nomination + approval flows).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48640" y="328269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UAT Sign-Off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348386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Terian resolves all raised issues within SLA. Formal sign-off document issued.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63440" y="1234440"/>
            <a:ext cx="4069080" cy="25786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1234440"/>
            <a:ext cx="4069080" cy="36576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123444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4 — Go-Live &amp; Handover (Week 5–6)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00600" y="169164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Production Cutover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00600" y="18928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promoted to production. DNS updated. SSL certificate verified.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800600" y="222199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Migration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00600" y="24231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employee directory loaded. Historical data imported if required.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800600" y="275234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Hypercare Period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800600" y="29535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14-day intensive support. Daily check-in call available. Priority P1 response.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800600" y="328269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Documentation Handover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800600" y="348386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runbook, API docs (Swagger), architecture overview, and escalation contacts.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11480" y="3977640"/>
            <a:ext cx="1965960" cy="7772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399592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431596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Kick-Off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514600" y="3977640"/>
            <a:ext cx="1965960" cy="777240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32" name="Text 30"/>
          <p:cNvSpPr/>
          <p:nvPr/>
        </p:nvSpPr>
        <p:spPr>
          <a:xfrm>
            <a:off x="2560320" y="399592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2–3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560320" y="431596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Provisioning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617720" y="3977640"/>
            <a:ext cx="1965960" cy="77724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5" name="Text 33"/>
          <p:cNvSpPr/>
          <p:nvPr/>
        </p:nvSpPr>
        <p:spPr>
          <a:xfrm>
            <a:off x="4663440" y="399592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3–4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663440" y="431596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UAT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720840" y="3977640"/>
            <a:ext cx="1965960" cy="777240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38" name="Text 36"/>
          <p:cNvSpPr/>
          <p:nvPr/>
        </p:nvSpPr>
        <p:spPr>
          <a:xfrm>
            <a:off x="6766560" y="399592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5–6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766560" y="431596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Go-Live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Provided by:  Terian Services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0" y="0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SLA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 Service Level Agreement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207008"/>
            <a:ext cx="8321040" cy="36576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0700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Priority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691640" y="12070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Definition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251960" y="120700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Response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532120" y="120700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Resolution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903720" y="120700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Channel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1600200"/>
            <a:ext cx="832104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411480" y="1600200"/>
            <a:ext cx="201168" cy="5303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167335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Critical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691640" y="167335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down or data loss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703320" y="167335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9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 hour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83480" y="167335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4 hours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0" y="167335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+ Email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1480" y="2167128"/>
            <a:ext cx="8321040" cy="530352"/>
          </a:xfrm>
          <a:prstGeom prst="rect">
            <a:avLst/>
          </a:prstGeom>
          <a:solidFill>
            <a:srgbClr val="F0F6FC"/>
          </a:solidFill>
          <a:ln/>
        </p:spPr>
      </p:sp>
      <p:sp>
        <p:nvSpPr>
          <p:cNvPr id="20" name="Shape 18"/>
          <p:cNvSpPr/>
          <p:nvPr/>
        </p:nvSpPr>
        <p:spPr>
          <a:xfrm>
            <a:off x="411480" y="2167128"/>
            <a:ext cx="201168" cy="53035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" y="224028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High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691640" y="22402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broken, workaround exists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703320" y="22402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9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4 hours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83480" y="22402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24 hours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0" y="224028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+ Ticket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11480" y="2734056"/>
            <a:ext cx="832104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Shape 25"/>
          <p:cNvSpPr/>
          <p:nvPr/>
        </p:nvSpPr>
        <p:spPr>
          <a:xfrm>
            <a:off x="411480" y="2734056"/>
            <a:ext cx="201168" cy="530352"/>
          </a:xfrm>
          <a:prstGeom prst="rect">
            <a:avLst/>
          </a:prstGeom>
          <a:solidFill>
            <a:srgbClr val="2196D4"/>
          </a:solidFill>
          <a:ln/>
        </p:spPr>
      </p:sp>
      <p:sp>
        <p:nvSpPr>
          <p:cNvPr id="28" name="Text 26"/>
          <p:cNvSpPr/>
          <p:nvPr/>
        </p:nvSpPr>
        <p:spPr>
          <a:xfrm>
            <a:off x="658368" y="280720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 Medium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691640" y="280720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Degraded performance or minor bug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703320" y="280720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9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 day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983480" y="280720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 days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00800" y="280720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11480" y="3300984"/>
            <a:ext cx="8321040" cy="530352"/>
          </a:xfrm>
          <a:prstGeom prst="rect">
            <a:avLst/>
          </a:prstGeom>
          <a:solidFill>
            <a:srgbClr val="F0F6FC"/>
          </a:solidFill>
          <a:ln/>
        </p:spPr>
      </p:sp>
      <p:sp>
        <p:nvSpPr>
          <p:cNvPr id="34" name="Shape 32"/>
          <p:cNvSpPr/>
          <p:nvPr/>
        </p:nvSpPr>
        <p:spPr>
          <a:xfrm>
            <a:off x="411480" y="3300984"/>
            <a:ext cx="201168" cy="530352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5" name="Text 33"/>
          <p:cNvSpPr/>
          <p:nvPr/>
        </p:nvSpPr>
        <p:spPr>
          <a:xfrm>
            <a:off x="658368" y="337413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 Low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691640" y="337413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 request or question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703320" y="337413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9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 days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983480" y="337413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release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400800" y="3374136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/ Email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11480" y="3913632"/>
            <a:ext cx="416052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1480" y="3986784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 Scope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11480" y="4261104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bugs and incident resolution  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and admin account management  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model retraining (quarterly or on demand)  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 configuration changes (locale, theme, roles)  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663440" y="3913632"/>
            <a:ext cx="406908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63440" y="3986784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Maintenance Windows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663440" y="4261104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Scheduled: Sundays 02:00–04:00 UTC  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48-hour advance notice for planned downtime  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Zero-downtime deploys via blue/green (target)  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patches applied outside windows as needed  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Provided by:  Terian Services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0" y="0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Steps — Getting Started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actions to kick off the Bo Industries onboarding: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600200"/>
            <a:ext cx="8321040" cy="1005840"/>
          </a:xfrm>
          <a:prstGeom prst="rect">
            <a:avLst/>
          </a:prstGeom>
          <a:solidFill>
            <a:srgbClr val="F0F6FC"/>
          </a:solidFill>
          <a:ln/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21208" y="1709928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208" y="17099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32688" y="1709928"/>
            <a:ext cx="7726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Pilot Agreement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32688" y="1965960"/>
            <a:ext cx="7726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the Terian Services SaaS Pilot Agreement (30-day no-obligation pilot). No infrastructure commitment required. Covers data privacy, uptime commitment, and support scope.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2697480"/>
            <a:ext cx="8321040" cy="1005840"/>
          </a:xfrm>
          <a:prstGeom prst="rect">
            <a:avLst/>
          </a:prstGeom>
          <a:solidFill>
            <a:srgbClr val="F0F6FC"/>
          </a:solidFill>
          <a:ln/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21208" y="2807208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1208" y="28072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32688" y="2807208"/>
            <a:ext cx="7726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Provide Onboarding Inputs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32688" y="3063240"/>
            <a:ext cx="7726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your Azure AD tenant ID, primary brand colour (hex), company logo (PNG), and an employee CSV (name, email, manager email). Terian handles everything from there.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" y="3794760"/>
            <a:ext cx="8321040" cy="1005840"/>
          </a:xfrm>
          <a:prstGeom prst="rect">
            <a:avLst/>
          </a:prstGeom>
          <a:solidFill>
            <a:srgbClr val="F0F6FC"/>
          </a:solidFill>
          <a:ln/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21208" y="3904488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1208" y="39044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32688" y="3904488"/>
            <a:ext cx="7726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Kick-Off Call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32688" y="4160520"/>
            <a:ext cx="7726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a 60-minute kick-off call with Terian Services. We'll confirm all requirements, walk through the sandbox live, and set the go-live target date.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11480" y="4645152"/>
            <a:ext cx="832104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4718304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Contact:  David Terian  ·  david.terian@gmail.com  ·  terian-services.com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69680" y="0"/>
            <a:ext cx="27432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6537960" cy="47548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Provided by:  Terian Services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0" y="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March 2026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914400"/>
            <a:ext cx="1463040" cy="1463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100584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457200" y="169164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 Industries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457200" y="2331720"/>
            <a:ext cx="27432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24688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in touch: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27889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David Terian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457200" y="32004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david.terian@gmail.com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57200" y="3547872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terian-services.com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57200" y="473659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Award Nomination Platform  ·  Enterprise SaaS  ·  Built on Microsoft Azure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411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Provided by: Terian Services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11480"/>
            <a:ext cx="109728" cy="47320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1732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Screenshots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371600" y="30175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views from the Award Nomination Platform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491032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Bo Industries SaaS Evaluation  |  © 2025 Terian Services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411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Provided by: Terian Services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065008" y="475488"/>
            <a:ext cx="749808" cy="274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65008" y="475488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475488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Screen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106115" y="941832"/>
            <a:ext cx="2860602" cy="3447288"/>
          </a:xfrm>
          <a:prstGeom prst="rect">
            <a:avLst/>
          </a:prstGeom>
          <a:solidFill>
            <a:srgbClr val="B0BEC5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60395" y="896112"/>
            <a:ext cx="2860602" cy="3447288"/>
          </a:xfrm>
          <a:prstGeom prst="rect">
            <a:avLst/>
          </a:prstGeom>
          <a:solidFill>
            <a:srgbClr val="FFFFFF"/>
          </a:solidFill>
          <a:ln w="9525">
            <a:solidFill>
              <a:srgbClr val="D1DCE8"/>
            </a:solidFill>
            <a:prstDash val="solid"/>
          </a:ln>
        </p:spPr>
      </p:sp>
      <p:pic>
        <p:nvPicPr>
          <p:cNvPr id="10" name="Image 0" descr="/sessions/zen-charming-curie/real_screenshots/screenshot_00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395" y="896112"/>
            <a:ext cx="2860602" cy="344728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332477" y="1170432"/>
            <a:ext cx="3796848" cy="2990088"/>
          </a:xfrm>
          <a:prstGeom prst="rect">
            <a:avLst/>
          </a:prstGeom>
          <a:solidFill>
            <a:srgbClr val="B0BEC5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286757" y="1124712"/>
            <a:ext cx="3796848" cy="2990088"/>
          </a:xfrm>
          <a:prstGeom prst="rect">
            <a:avLst/>
          </a:prstGeom>
          <a:solidFill>
            <a:srgbClr val="FFFFFF"/>
          </a:solidFill>
          <a:ln w="9525">
            <a:solidFill>
              <a:srgbClr val="D1DCE8"/>
            </a:solidFill>
            <a:prstDash val="solid"/>
          </a:ln>
        </p:spPr>
      </p:sp>
      <p:pic>
        <p:nvPicPr>
          <p:cNvPr id="13" name="Image 1" descr="/sessions/zen-charming-curie/real_screenshots/screenshot_08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757" y="1124712"/>
            <a:ext cx="3796848" cy="299008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60395" y="4389120"/>
            <a:ext cx="286060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Award Nomination Login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4286757" y="4160520"/>
            <a:ext cx="3796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SSO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320040" y="448056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Microsoft SSO (Azure AD / MSAL) authentication with MFA. The branded app login card routes directly to Microsoft's identity platform, ensuring enterprise-grade security from first click.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0" y="491032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Bo Industries SaaS Evaluation  |  © 2025 Terian Services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411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Provided by: Terian Services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065008" y="475488"/>
            <a:ext cx="749808" cy="274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65008" y="475488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475488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Screen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850872" y="941832"/>
            <a:ext cx="5533697" cy="3447288"/>
          </a:xfrm>
          <a:prstGeom prst="rect">
            <a:avLst/>
          </a:prstGeom>
          <a:solidFill>
            <a:srgbClr val="B0BEC5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05152" y="896112"/>
            <a:ext cx="5533697" cy="3447288"/>
          </a:xfrm>
          <a:prstGeom prst="rect">
            <a:avLst/>
          </a:prstGeom>
          <a:solidFill>
            <a:srgbClr val="FFFFFF"/>
          </a:solidFill>
          <a:ln w="9525">
            <a:solidFill>
              <a:srgbClr val="D1DCE8"/>
            </a:solidFill>
            <a:prstDash val="solid"/>
          </a:ln>
        </p:spPr>
      </p:sp>
      <p:pic>
        <p:nvPicPr>
          <p:cNvPr id="10" name="Image 0" descr="/sessions/zen-charming-curie/real_screenshots/screenshot_07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152" y="896112"/>
            <a:ext cx="5533697" cy="344728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20040" y="4453128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 navigation bar provides one-click access to all four modules: Nominate Employee, My Nominations, Pending Approvals (with live badge count), and Analytics &amp; Reporting.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0" y="491032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Bo Industries SaaS Evaluation  |  © 2025 Terian Services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411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Provided by: Terian Services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065008" y="475488"/>
            <a:ext cx="749808" cy="274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65008" y="475488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475488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Award Nomination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049470" y="941832"/>
            <a:ext cx="5136500" cy="3447288"/>
          </a:xfrm>
          <a:prstGeom prst="rect">
            <a:avLst/>
          </a:prstGeom>
          <a:solidFill>
            <a:srgbClr val="B0BEC5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03750" y="896112"/>
            <a:ext cx="5136500" cy="3447288"/>
          </a:xfrm>
          <a:prstGeom prst="rect">
            <a:avLst/>
          </a:prstGeom>
          <a:solidFill>
            <a:srgbClr val="FFFFFF"/>
          </a:solidFill>
          <a:ln w="9525">
            <a:solidFill>
              <a:srgbClr val="D1DCE8"/>
            </a:solidFill>
            <a:prstDash val="solid"/>
          </a:ln>
        </p:spPr>
      </p:sp>
      <p:pic>
        <p:nvPicPr>
          <p:cNvPr id="10" name="Image 0" descr="/sessions/zen-charming-curie/real_screenshots/screenshot_06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3750" y="896112"/>
            <a:ext cx="5136500" cy="344728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20040" y="4453128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select a nominee from the company directory, enter an award amount ($50–$5,000), and provide a supporting description. One click submits the nomination for manager approval.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0" y="491032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Bo Industries SaaS Evaluation  |  © 2025 Terian Services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411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Provided by: Terian Services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065008" y="475488"/>
            <a:ext cx="749808" cy="274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65008" y="475488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475488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Notification Email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083058" y="941832"/>
            <a:ext cx="5069324" cy="3447288"/>
          </a:xfrm>
          <a:prstGeom prst="rect">
            <a:avLst/>
          </a:prstGeom>
          <a:solidFill>
            <a:srgbClr val="B0BEC5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37338" y="896112"/>
            <a:ext cx="5069324" cy="3447288"/>
          </a:xfrm>
          <a:prstGeom prst="rect">
            <a:avLst/>
          </a:prstGeom>
          <a:solidFill>
            <a:srgbClr val="FFFFFF"/>
          </a:solidFill>
          <a:ln w="9525">
            <a:solidFill>
              <a:srgbClr val="D1DCE8"/>
            </a:solidFill>
            <a:prstDash val="solid"/>
          </a:ln>
        </p:spPr>
      </p:sp>
      <p:pic>
        <p:nvPicPr>
          <p:cNvPr id="10" name="Image 0" descr="/sessions/zen-charming-curie/real_screenshots/screenshot_05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7338" y="896112"/>
            <a:ext cx="5069324" cy="344728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20040" y="4453128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approving manager receives a rich HTML email with full nomination details and embedded Approve / Reject action buttons — no app login required to act on a nomination.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0" y="491032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Bo Industries SaaS Evaluation  |  © 2025 Terian Services</a:t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411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Provided by: Terian Services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065008" y="475488"/>
            <a:ext cx="749808" cy="274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65008" y="475488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475488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Impersonation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302844" y="941832"/>
            <a:ext cx="6629751" cy="3447288"/>
          </a:xfrm>
          <a:prstGeom prst="rect">
            <a:avLst/>
          </a:prstGeom>
          <a:solidFill>
            <a:srgbClr val="B0BEC5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57124" y="896112"/>
            <a:ext cx="6629751" cy="3447288"/>
          </a:xfrm>
          <a:prstGeom prst="rect">
            <a:avLst/>
          </a:prstGeom>
          <a:solidFill>
            <a:srgbClr val="FFFFFF"/>
          </a:solidFill>
          <a:ln w="9525">
            <a:solidFill>
              <a:srgbClr val="D1DCE8"/>
            </a:solidFill>
            <a:prstDash val="solid"/>
          </a:ln>
        </p:spPr>
      </p:sp>
      <p:pic>
        <p:nvPicPr>
          <p:cNvPr id="10" name="Image 0" descr="/sessions/zen-charming-curie/real_screenshots/screenshot_04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124" y="896112"/>
            <a:ext cx="6629751" cy="344728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20040" y="4453128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 search for any user and assume their identity for support or troubleshooting. All actions during an impersonation session are fully audit-logged with both accounts recorded.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0" y="491032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Bo Industries SaaS Evaluation  |  © 2025 Terian Services</a:t>
            </a:r>
            <a:endParaRPr lang="en-US" sz="7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411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Provided by: Terian Services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065008" y="475488"/>
            <a:ext cx="749808" cy="274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65008" y="475488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475488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Approval Queue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40540" y="941832"/>
            <a:ext cx="7754361" cy="3447288"/>
          </a:xfrm>
          <a:prstGeom prst="rect">
            <a:avLst/>
          </a:prstGeom>
          <a:solidFill>
            <a:srgbClr val="B0BEC5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4820" y="896112"/>
            <a:ext cx="7754361" cy="3447288"/>
          </a:xfrm>
          <a:prstGeom prst="rect">
            <a:avLst/>
          </a:prstGeom>
          <a:solidFill>
            <a:srgbClr val="FFFFFF"/>
          </a:solidFill>
          <a:ln w="9525">
            <a:solidFill>
              <a:srgbClr val="D1DCE8"/>
            </a:solidFill>
            <a:prstDash val="solid"/>
          </a:ln>
        </p:spPr>
      </p:sp>
      <p:pic>
        <p:nvPicPr>
          <p:cNvPr id="10" name="Image 0" descr="/sessions/zen-charming-curie/real_screenshots/screenshot_03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820" y="896112"/>
            <a:ext cx="7754361" cy="344728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20040" y="4453128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 see all pending nominations with nominee details, award amounts, and submitter info. Inline Approve / Reject controls trigger instant status updates and email confirmations. The purple banner indicates an active admin impersonation session.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0" y="491032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Bo Industries SaaS Evaluation  |  © 2025 Terian Services</a:t>
            </a:r>
            <a:endParaRPr lang="en-US" sz="7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411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Provided by: Terian Services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065008" y="475488"/>
            <a:ext cx="749808" cy="274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65008" y="475488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475488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Reporting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839587" y="941832"/>
            <a:ext cx="5556266" cy="3447288"/>
          </a:xfrm>
          <a:prstGeom prst="rect">
            <a:avLst/>
          </a:prstGeom>
          <a:solidFill>
            <a:srgbClr val="B0BEC5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93867" y="896112"/>
            <a:ext cx="5556266" cy="3447288"/>
          </a:xfrm>
          <a:prstGeom prst="rect">
            <a:avLst/>
          </a:prstGeom>
          <a:solidFill>
            <a:srgbClr val="FFFFFF"/>
          </a:solidFill>
          <a:ln w="9525">
            <a:solidFill>
              <a:srgbClr val="D1DCE8"/>
            </a:solidFill>
            <a:prstDash val="solid"/>
          </a:ln>
        </p:spPr>
      </p:sp>
      <p:pic>
        <p:nvPicPr>
          <p:cNvPr id="10" name="Image 0" descr="/sessions/zen-charming-curie/real_screenshots/screenshot_0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3867" y="896112"/>
            <a:ext cx="5556266" cy="344728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20040" y="4453128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Overview dashboard presents real-time KPIs: Total Spent, Nomination Volume, Pending Approvals, and Fraud Alerts — with department-level spending breakdowns and month-over-month trend indicators.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0" y="491032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Bo Industries SaaS Evaluation  |  © 2025 Terian Services</a:t>
            </a:r>
            <a:endParaRPr lang="en-US" sz="7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411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Provided by: Terian Services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065008" y="475488"/>
            <a:ext cx="749808" cy="274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65008" y="475488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475488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Analytics Agent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25262" y="941832"/>
            <a:ext cx="7184917" cy="3447288"/>
          </a:xfrm>
          <a:prstGeom prst="rect">
            <a:avLst/>
          </a:prstGeom>
          <a:solidFill>
            <a:srgbClr val="B0BEC5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79542" y="896112"/>
            <a:ext cx="7184917" cy="3447288"/>
          </a:xfrm>
          <a:prstGeom prst="rect">
            <a:avLst/>
          </a:prstGeom>
          <a:solidFill>
            <a:srgbClr val="FFFFFF"/>
          </a:solidFill>
          <a:ln w="9525">
            <a:solidFill>
              <a:srgbClr val="D1DCE8"/>
            </a:solidFill>
            <a:prstDash val="solid"/>
          </a:ln>
        </p:spPr>
      </p:sp>
      <p:pic>
        <p:nvPicPr>
          <p:cNvPr id="10" name="Image 0" descr="/sessions/zen-charming-curie/real_screenshots/screenshot_0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542" y="896112"/>
            <a:ext cx="7184917" cy="344728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20040" y="4453128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ask plain-English questions — e.g. "Show spending per department and export to Excel" — and the GPT-4o powered agent translates them into SQL, runs the query, and returns a narrative answer with a downloadable Excel export.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0" y="491032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Bo Industries SaaS Evaluation  |  © 2025 Terian Services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Award Nomination Platform — Bo Industries</dc:title>
  <dc:subject>PptxGenJS Presentation</dc:subject>
  <dc:creator>Terian Services</dc:creator>
  <cp:lastModifiedBy>Terian Services</cp:lastModifiedBy>
  <cp:revision>1</cp:revision>
  <dcterms:created xsi:type="dcterms:W3CDTF">2026-03-24T16:58:21Z</dcterms:created>
  <dcterms:modified xsi:type="dcterms:W3CDTF">2026-03-24T16:58:21Z</dcterms:modified>
</cp:coreProperties>
</file>